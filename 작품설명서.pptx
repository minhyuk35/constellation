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ko-KR"/>
    </a:defPPr>
    <a:lvl1pPr marL="0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1pPr>
    <a:lvl2pPr marL="1239789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2pPr>
    <a:lvl3pPr marL="2479578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3pPr>
    <a:lvl4pPr marL="3719368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4pPr>
    <a:lvl5pPr marL="4959157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5pPr>
    <a:lvl6pPr marL="6198946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6pPr>
    <a:lvl7pPr marL="7438735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7pPr>
    <a:lvl8pPr marL="8678525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8pPr>
    <a:lvl9pPr marL="9918314" algn="l" defTabSz="2479578" rtl="0" eaLnBrk="1" latinLnBrk="1" hangingPunct="1">
      <a:defRPr sz="488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4">
          <p15:clr>
            <a:srgbClr val="A4A3A4"/>
          </p15:clr>
        </p15:guide>
        <p15:guide id="2" pos="67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8069"/>
  </p:normalViewPr>
  <p:slideViewPr>
    <p:cSldViewPr snapToGrid="0">
      <p:cViewPr>
        <p:scale>
          <a:sx n="33" d="100"/>
          <a:sy n="33" d="100"/>
        </p:scale>
        <p:origin x="1299" y="-2586"/>
      </p:cViewPr>
      <p:guideLst>
        <p:guide orient="horz" pos="9534"/>
        <p:guide pos="67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743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29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9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47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15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759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48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70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03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0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8640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0A1303C-58B5-4640-A068-A42C4C19C58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" y="791"/>
            <a:ext cx="21379862" cy="3027442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60059-091B-471C-9632-8E0C253D52E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D9B2D-2CEC-4652-BDCC-EDAB607BE4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3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2.png"/><Relationship Id="rId12" Type="http://schemas.openxmlformats.org/officeDocument/2006/relationships/image" Target="../media/image13.jpe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207">
            <a:extLst>
              <a:ext uri="{FF2B5EF4-FFF2-40B4-BE49-F238E27FC236}">
                <a16:creationId xmlns:a16="http://schemas.microsoft.com/office/drawing/2014/main" id="{6AE2D995-2866-4473-A4CD-7D0995BB9B8F}"/>
              </a:ext>
            </a:extLst>
          </p:cNvPr>
          <p:cNvSpPr txBox="1"/>
          <p:nvPr/>
        </p:nvSpPr>
        <p:spPr>
          <a:xfrm>
            <a:off x="598567" y="2276204"/>
            <a:ext cx="159332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6000" spc="-300" dirty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Constellation : 별로 그리는 사람</a:t>
            </a: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40BE557B-13B1-4C29-997B-86CDF72439CC}"/>
              </a:ext>
            </a:extLst>
          </p:cNvPr>
          <p:cNvGrpSpPr/>
          <p:nvPr/>
        </p:nvGrpSpPr>
        <p:grpSpPr>
          <a:xfrm>
            <a:off x="2091487" y="7039106"/>
            <a:ext cx="16733925" cy="436461"/>
            <a:chOff x="2258925" y="5972175"/>
            <a:chExt cx="16733925" cy="436461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4BDB2C60-AB1A-4A6F-8281-1E6DF6F9D746}"/>
                </a:ext>
              </a:extLst>
            </p:cNvPr>
            <p:cNvSpPr txBox="1"/>
            <p:nvPr/>
          </p:nvSpPr>
          <p:spPr>
            <a:xfrm>
              <a:off x="2590800" y="5972175"/>
              <a:ext cx="16402050" cy="436461"/>
            </a:xfrm>
            <a:prstGeom prst="rect">
              <a:avLst/>
            </a:prstGeom>
            <a:noFill/>
          </p:spPr>
          <p:txBody>
            <a:bodyPr wrap="square" lIns="36000" tIns="18000" rIns="36000" bIns="18000">
              <a:spAutoFit/>
            </a:bodyPr>
            <a:lstStyle/>
            <a:p>
              <a:pPr lvl="0">
                <a:defRPr/>
              </a:pP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>관람객의 순간적인 움직임이 기록되지 않고 그대로 사라짐</a:t>
              </a:r>
              <a:r>
                <a:rPr lang="en-US" altLang="ko-KR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en-US" altLang="ko-KR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en-US" altLang="ko-KR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endParaRPr lang="ko-KR" altLang="en-US" sz="2600" dirty="0">
                <a:solidFill>
                  <a:schemeClr val="accent1">
                    <a:lumMod val="75000"/>
                  </a:schemeClr>
                </a:solidFill>
                <a:latin typeface="나눔고딕"/>
                <a:ea typeface="나눔고딕"/>
              </a:endParaRPr>
            </a:p>
          </p:txBody>
        </p:sp>
        <p:pic>
          <p:nvPicPr>
            <p:cNvPr id="211" name="그림 210">
              <a:extLst>
                <a:ext uri="{FF2B5EF4-FFF2-40B4-BE49-F238E27FC236}">
                  <a16:creationId xmlns:a16="http://schemas.microsoft.com/office/drawing/2014/main" id="{ADD2A7B9-FE2D-49DC-8310-AECDDCD80F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258925" y="6084882"/>
              <a:ext cx="236250" cy="236250"/>
            </a:xfrm>
            <a:prstGeom prst="rect">
              <a:avLst/>
            </a:prstGeom>
          </p:spPr>
        </p:pic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28B8B3ED-70F2-4B00-8502-B01D6DD052FE}"/>
              </a:ext>
            </a:extLst>
          </p:cNvPr>
          <p:cNvSpPr txBox="1"/>
          <p:nvPr/>
        </p:nvSpPr>
        <p:spPr>
          <a:xfrm>
            <a:off x="1663698" y="10396896"/>
            <a:ext cx="8709027" cy="17322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ko-KR"/>
            </a:defPPr>
            <a:lvl1pPr>
              <a:defRPr sz="2400">
                <a:solidFill>
                  <a:schemeClr val="accent1">
                    <a:lumMod val="50000"/>
                  </a:schemeClr>
                </a:solidFill>
                <a:effectLst/>
                <a:latin typeface="나눔고딕"/>
                <a:ea typeface="나눔고딕"/>
              </a:defRPr>
            </a:lvl1pPr>
          </a:lstStyle>
          <a:p>
            <a:pPr lvl="0" algn="ctr">
              <a:lnSpc>
                <a:spcPct val="150000"/>
              </a:lnSpc>
              <a:defRPr/>
            </a:pPr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AI가 움직임과 제스처를 해석해 하나의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altLang="ko-KR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</a:rPr>
              <a:t/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</a:rPr>
              <a:t/>
            </a: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생성형 예술로 재탄생시키는 인터랙티브 미디어아트</a:t>
            </a: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054A037C-0625-4B28-9898-C0A08D32109E}"/>
              </a:ext>
            </a:extLst>
          </p:cNvPr>
          <p:cNvGrpSpPr/>
          <p:nvPr/>
        </p:nvGrpSpPr>
        <p:grpSpPr>
          <a:xfrm>
            <a:off x="2482309" y="15578166"/>
            <a:ext cx="4745804" cy="461665"/>
            <a:chOff x="2532741" y="15242726"/>
            <a:chExt cx="4745804" cy="461665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2E299F7A-1894-423C-B52F-9F6E144AB69F}"/>
                </a:ext>
              </a:extLst>
            </p:cNvPr>
            <p:cNvSpPr txBox="1"/>
            <p:nvPr/>
          </p:nvSpPr>
          <p:spPr>
            <a:xfrm>
              <a:off x="2780390" y="15242726"/>
              <a:ext cx="44981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>움직임이 기록되지 않고 사라짐</a:t>
              </a:r>
            </a:p>
          </p:txBody>
        </p:sp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A5A655C6-2BE6-4C2C-B764-F1E1BC6587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377932"/>
              <a:ext cx="191250" cy="191250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B2A95AB7-C497-4F90-A697-3968DF185570}"/>
              </a:ext>
            </a:extLst>
          </p:cNvPr>
          <p:cNvGrpSpPr/>
          <p:nvPr/>
        </p:nvGrpSpPr>
        <p:grpSpPr>
          <a:xfrm>
            <a:off x="2060069" y="20798064"/>
            <a:ext cx="3608536" cy="523220"/>
            <a:chOff x="2628525" y="21598164"/>
            <a:chExt cx="3608536" cy="523220"/>
          </a:xfrm>
        </p:grpSpPr>
        <p:pic>
          <p:nvPicPr>
            <p:cNvPr id="217" name="그림 216">
              <a:extLst>
                <a:ext uri="{FF2B5EF4-FFF2-40B4-BE49-F238E27FC236}">
                  <a16:creationId xmlns:a16="http://schemas.microsoft.com/office/drawing/2014/main" id="{1290CCCD-9A8F-4EA0-8D9A-9EB987A8B2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628525" y="21651648"/>
              <a:ext cx="135000" cy="416250"/>
            </a:xfrm>
            <a:prstGeom prst="rect">
              <a:avLst/>
            </a:prstGeom>
          </p:spPr>
        </p:pic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C118CA7-D88A-467D-BFFB-642DC76CAA25}"/>
                </a:ext>
              </a:extLst>
            </p:cNvPr>
            <p:cNvSpPr txBox="1"/>
            <p:nvPr/>
          </p:nvSpPr>
          <p:spPr>
            <a:xfrm>
              <a:off x="2838450" y="21598164"/>
              <a:ext cx="339861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sz="2800" b="1" dirty="0">
                  <a:solidFill>
                    <a:schemeClr val="accent1">
                      <a:lumMod val="75000"/>
                    </a:schemeClr>
                  </a:solidFill>
                </a:rPr>
                <a:t>개념 흐름도</a:t>
              </a:r>
            </a:p>
          </p:txBody>
        </p:sp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FB72B9E8-9E6F-482C-AE37-806412AD7683}"/>
              </a:ext>
            </a:extLst>
          </p:cNvPr>
          <p:cNvGrpSpPr/>
          <p:nvPr/>
        </p:nvGrpSpPr>
        <p:grpSpPr>
          <a:xfrm>
            <a:off x="7132346" y="20798064"/>
            <a:ext cx="3521450" cy="523220"/>
            <a:chOff x="6794125" y="21598164"/>
            <a:chExt cx="3521450" cy="523220"/>
          </a:xfrm>
        </p:grpSpPr>
        <p:pic>
          <p:nvPicPr>
            <p:cNvPr id="220" name="그림 219">
              <a:extLst>
                <a:ext uri="{FF2B5EF4-FFF2-40B4-BE49-F238E27FC236}">
                  <a16:creationId xmlns:a16="http://schemas.microsoft.com/office/drawing/2014/main" id="{80827625-F458-4D36-A774-9C56A51A0B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6794125" y="21651648"/>
              <a:ext cx="135000" cy="416250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0B900B5B-9B1B-4139-A813-995818D72CCA}"/>
                </a:ext>
              </a:extLst>
            </p:cNvPr>
            <p:cNvSpPr txBox="1"/>
            <p:nvPr/>
          </p:nvSpPr>
          <p:spPr>
            <a:xfrm>
              <a:off x="6989536" y="21598164"/>
              <a:ext cx="33260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sz="2800" b="1" dirty="0">
                  <a:solidFill>
                    <a:schemeClr val="accent1">
                      <a:lumMod val="75000"/>
                    </a:schemeClr>
                  </a:solidFill>
                </a:rPr>
                <a:t>제스처 상호작용</a:t>
              </a:r>
            </a:p>
          </p:txBody>
        </p: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53A2C802-73BA-4E60-B81B-FBDD13CF736B}"/>
              </a:ext>
            </a:extLst>
          </p:cNvPr>
          <p:cNvGrpSpPr/>
          <p:nvPr/>
        </p:nvGrpSpPr>
        <p:grpSpPr>
          <a:xfrm>
            <a:off x="11415616" y="20798064"/>
            <a:ext cx="3492421" cy="523220"/>
            <a:chOff x="10872639" y="21598164"/>
            <a:chExt cx="3492421" cy="523220"/>
          </a:xfrm>
        </p:grpSpPr>
        <p:pic>
          <p:nvPicPr>
            <p:cNvPr id="223" name="그림 222">
              <a:extLst>
                <a:ext uri="{FF2B5EF4-FFF2-40B4-BE49-F238E27FC236}">
                  <a16:creationId xmlns:a16="http://schemas.microsoft.com/office/drawing/2014/main" id="{2DED8E1B-B398-4874-9D99-C7F83E858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72639" y="21651649"/>
              <a:ext cx="135000" cy="416250"/>
            </a:xfrm>
            <a:prstGeom prst="rect">
              <a:avLst/>
            </a:prstGeom>
          </p:spPr>
        </p:pic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3EE29AE2-FA45-424C-9790-98F9E43654BC}"/>
                </a:ext>
              </a:extLst>
            </p:cNvPr>
            <p:cNvSpPr txBox="1"/>
            <p:nvPr/>
          </p:nvSpPr>
          <p:spPr>
            <a:xfrm>
              <a:off x="11039021" y="21598164"/>
              <a:ext cx="3326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accent1">
                      <a:lumMod val="75000"/>
                    </a:schemeClr>
                  </a:solidFill>
                </a:rPr>
                <a:t>화면 연출 목업</a:t>
              </a:r>
              <a:r>
                <a:rPr lang="en-US" altLang="ko-KR" sz="2800" b="1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  <a:endParaRPr lang="ko-KR" altLang="en-US" sz="2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E8159BDB-07D5-48E9-B94E-F98F5108D66E}"/>
              </a:ext>
            </a:extLst>
          </p:cNvPr>
          <p:cNvGrpSpPr/>
          <p:nvPr/>
        </p:nvGrpSpPr>
        <p:grpSpPr>
          <a:xfrm>
            <a:off x="2091487" y="25807588"/>
            <a:ext cx="16733925" cy="436461"/>
            <a:chOff x="2258925" y="5972174"/>
            <a:chExt cx="16733925" cy="436461"/>
          </a:xfrm>
        </p:grpSpPr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58256321-A7F7-46A7-A2AA-53CFA6E744E9}"/>
                </a:ext>
              </a:extLst>
            </p:cNvPr>
            <p:cNvSpPr txBox="1"/>
            <p:nvPr/>
          </p:nvSpPr>
          <p:spPr>
            <a:xfrm>
              <a:off x="2590800" y="5972174"/>
              <a:ext cx="16402050" cy="436461"/>
            </a:xfrm>
            <a:prstGeom prst="rect">
              <a:avLst/>
            </a:prstGeom>
            <a:noFill/>
          </p:spPr>
          <p:txBody>
            <a:bodyPr wrap="square" tIns="18000" bIns="18000">
              <a:spAutoFit/>
            </a:bodyPr>
            <a:lstStyle/>
            <a:p>
              <a:pPr lvl="0">
                <a:defRPr/>
              </a:pP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>AI 기반 생성 예술 체험 제공</a:t>
              </a:r>
              <a:r>
                <a:rPr lang="en-US" altLang="ko-KR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</a:p>
          </p:txBody>
        </p:sp>
        <p:pic>
          <p:nvPicPr>
            <p:cNvPr id="227" name="그림 226">
              <a:extLst>
                <a:ext uri="{FF2B5EF4-FFF2-40B4-BE49-F238E27FC236}">
                  <a16:creationId xmlns:a16="http://schemas.microsoft.com/office/drawing/2014/main" id="{214C9F8A-9074-4478-A091-3675176F7C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258925" y="6084882"/>
              <a:ext cx="236250" cy="236250"/>
            </a:xfrm>
            <a:prstGeom prst="rect">
              <a:avLst/>
            </a:prstGeom>
          </p:spPr>
        </p:pic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3C5C5FA4-7364-46A6-8370-FA2A6B6AB225}"/>
              </a:ext>
            </a:extLst>
          </p:cNvPr>
          <p:cNvGrpSpPr/>
          <p:nvPr/>
        </p:nvGrpSpPr>
        <p:grpSpPr>
          <a:xfrm>
            <a:off x="2091487" y="7639760"/>
            <a:ext cx="16733925" cy="436461"/>
            <a:chOff x="2258925" y="5972175"/>
            <a:chExt cx="16733925" cy="43646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821C8BF5-D251-4261-9F42-00564A9EAF54}"/>
                </a:ext>
              </a:extLst>
            </p:cNvPr>
            <p:cNvSpPr txBox="1"/>
            <p:nvPr/>
          </p:nvSpPr>
          <p:spPr>
            <a:xfrm>
              <a:off x="2590800" y="5972175"/>
              <a:ext cx="16402050" cy="436461"/>
            </a:xfrm>
            <a:prstGeom prst="rect">
              <a:avLst/>
            </a:prstGeom>
            <a:noFill/>
          </p:spPr>
          <p:txBody>
            <a:bodyPr wrap="square" lIns="36000" tIns="18000" rIns="36000" bIns="18000">
              <a:spAutoFit/>
            </a:bodyPr>
            <a:lstStyle/>
            <a:p>
              <a:pPr lvl="0">
                <a:defRPr/>
              </a:pP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>기존 인터랙티브 전시는 단순 반응(따라하기)에 그치는 경우가 많음</a:t>
              </a:r>
              <a:r>
                <a:rPr lang="en-US" altLang="ko-KR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en-US" altLang="ko-KR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</a:p>
          </p:txBody>
        </p:sp>
        <p:pic>
          <p:nvPicPr>
            <p:cNvPr id="230" name="그림 229">
              <a:extLst>
                <a:ext uri="{FF2B5EF4-FFF2-40B4-BE49-F238E27FC236}">
                  <a16:creationId xmlns:a16="http://schemas.microsoft.com/office/drawing/2014/main" id="{E89E6658-9DE4-4AEB-8183-81D5C09AFF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258925" y="6084882"/>
              <a:ext cx="236250" cy="236250"/>
            </a:xfrm>
            <a:prstGeom prst="rect">
              <a:avLst/>
            </a:prstGeom>
          </p:spPr>
        </p:pic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94D6A3ED-D7E6-43D4-B424-F61F1480A5C4}"/>
              </a:ext>
            </a:extLst>
          </p:cNvPr>
          <p:cNvGrpSpPr/>
          <p:nvPr/>
        </p:nvGrpSpPr>
        <p:grpSpPr>
          <a:xfrm>
            <a:off x="2091487" y="8240413"/>
            <a:ext cx="16733925" cy="436461"/>
            <a:chOff x="2258925" y="5972175"/>
            <a:chExt cx="16733925" cy="436461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E4C5451F-C8BD-4D71-B5DB-EDC04E99FB7A}"/>
                </a:ext>
              </a:extLst>
            </p:cNvPr>
            <p:cNvSpPr txBox="1"/>
            <p:nvPr/>
          </p:nvSpPr>
          <p:spPr>
            <a:xfrm>
              <a:off x="2590800" y="5972175"/>
              <a:ext cx="16402050" cy="436461"/>
            </a:xfrm>
            <a:prstGeom prst="rect">
              <a:avLst/>
            </a:prstGeom>
            <a:noFill/>
          </p:spPr>
          <p:txBody>
            <a:bodyPr wrap="square" lIns="36000" tIns="18000" rIns="36000" bIns="18000">
              <a:spAutoFit/>
            </a:bodyPr>
            <a:lstStyle/>
            <a:p>
              <a:pPr lvl="0">
                <a:defRPr/>
              </a:pP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>AI를 예술적 해석 도구로 활용하는 상시형 생성예술 경험이 필요함</a:t>
              </a:r>
            </a:p>
          </p:txBody>
        </p:sp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CDB81EEB-2CEE-4C5A-977A-47D84E825E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258925" y="6084882"/>
              <a:ext cx="236250" cy="236250"/>
            </a:xfrm>
            <a:prstGeom prst="rect">
              <a:avLst/>
            </a:prstGeom>
          </p:spPr>
        </p:pic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FE20E196-55D6-4D3B-8965-46641B1D87DA}"/>
              </a:ext>
            </a:extLst>
          </p:cNvPr>
          <p:cNvGrpSpPr/>
          <p:nvPr/>
        </p:nvGrpSpPr>
        <p:grpSpPr>
          <a:xfrm>
            <a:off x="2482309" y="15935140"/>
            <a:ext cx="4533900" cy="461665"/>
            <a:chOff x="2532741" y="15414194"/>
            <a:chExt cx="4533900" cy="46166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62599E24-0BB6-4676-8BEF-1FDCDE1984C3}"/>
                </a:ext>
              </a:extLst>
            </p:cNvPr>
            <p:cNvSpPr txBox="1"/>
            <p:nvPr/>
          </p:nvSpPr>
          <p:spPr>
            <a:xfrm>
              <a:off x="2780391" y="15414194"/>
              <a:ext cx="4286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>기존 전시는 단순 반응에 그침</a:t>
              </a:r>
            </a:p>
          </p:txBody>
        </p:sp>
        <p:pic>
          <p:nvPicPr>
            <p:cNvPr id="236" name="그림 235">
              <a:extLst>
                <a:ext uri="{FF2B5EF4-FFF2-40B4-BE49-F238E27FC236}">
                  <a16:creationId xmlns:a16="http://schemas.microsoft.com/office/drawing/2014/main" id="{55DE1EC8-E340-48FC-8FDD-43A5882AD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574782"/>
              <a:ext cx="191250" cy="191250"/>
            </a:xfrm>
            <a:prstGeom prst="rect">
              <a:avLst/>
            </a:prstGeom>
          </p:spPr>
        </p:pic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8228197A-B7E2-4420-9A00-8AA0E4D18D9A}"/>
              </a:ext>
            </a:extLst>
          </p:cNvPr>
          <p:cNvGrpSpPr/>
          <p:nvPr/>
        </p:nvGrpSpPr>
        <p:grpSpPr>
          <a:xfrm>
            <a:off x="2482309" y="16305945"/>
            <a:ext cx="4533900" cy="461665"/>
            <a:chOff x="2532741" y="15242726"/>
            <a:chExt cx="4533900" cy="461665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6407F52C-3AF5-43E5-AD9B-6A08502A4212}"/>
                </a:ext>
              </a:extLst>
            </p:cNvPr>
            <p:cNvSpPr txBox="1"/>
            <p:nvPr/>
          </p:nvSpPr>
          <p:spPr>
            <a:xfrm>
              <a:off x="2780391" y="15242726"/>
              <a:ext cx="4286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>예술 해석 도구로 쓴 AI 사례 부족</a:t>
              </a:r>
            </a:p>
          </p:txBody>
        </p:sp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5E0054A5-C331-45A2-BA06-4A0E4C838A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396982"/>
              <a:ext cx="191250" cy="191250"/>
            </a:xfrm>
            <a:prstGeom prst="rect">
              <a:avLst/>
            </a:prstGeom>
          </p:spPr>
        </p:pic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95155D5A-BC72-44F1-A39E-91F025F11772}"/>
              </a:ext>
            </a:extLst>
          </p:cNvPr>
          <p:cNvGrpSpPr/>
          <p:nvPr/>
        </p:nvGrpSpPr>
        <p:grpSpPr>
          <a:xfrm>
            <a:off x="8231949" y="15473504"/>
            <a:ext cx="5145348" cy="461665"/>
            <a:chOff x="2532741" y="15242725"/>
            <a:chExt cx="5145348" cy="461665"/>
          </a:xfrm>
        </p:grpSpPr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A388C578-9C7F-48BC-B187-563F0F157FEF}"/>
                </a:ext>
              </a:extLst>
            </p:cNvPr>
            <p:cNvSpPr txBox="1"/>
            <p:nvPr/>
          </p:nvSpPr>
          <p:spPr>
            <a:xfrm>
              <a:off x="2780391" y="15242725"/>
              <a:ext cx="489769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en-US" altLang="ko-KR" dirty="0">
                  <a:solidFill>
                    <a:schemeClr val="accent1">
                      <a:lumMod val="75000"/>
                    </a:schemeClr>
                  </a:solidFill>
                </a:rPr>
                <a:t>손동작으로 별 생성·이동·연결</a:t>
              </a: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  <a:r>
                <a:rPr lang="en-US" altLang="ko-KR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</a:p>
          </p:txBody>
        </p:sp>
        <p:pic>
          <p:nvPicPr>
            <p:cNvPr id="242" name="그림 241">
              <a:extLst>
                <a:ext uri="{FF2B5EF4-FFF2-40B4-BE49-F238E27FC236}">
                  <a16:creationId xmlns:a16="http://schemas.microsoft.com/office/drawing/2014/main" id="{283BC93B-E4D0-49BF-BC5A-A34F03F3FE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377932"/>
              <a:ext cx="191250" cy="191250"/>
            </a:xfrm>
            <a:prstGeom prst="rect">
              <a:avLst/>
            </a:prstGeom>
          </p:spPr>
        </p:pic>
      </p:grp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FCE4FB66-D5A8-41A6-B515-5758082C0843}"/>
              </a:ext>
            </a:extLst>
          </p:cNvPr>
          <p:cNvGrpSpPr/>
          <p:nvPr/>
        </p:nvGrpSpPr>
        <p:grpSpPr>
          <a:xfrm>
            <a:off x="8231949" y="15880216"/>
            <a:ext cx="4533900" cy="461665"/>
            <a:chOff x="2532741" y="15242725"/>
            <a:chExt cx="4533900" cy="461665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27AA9AD5-BEF2-470D-8AAB-71444D84ACC1}"/>
                </a:ext>
              </a:extLst>
            </p:cNvPr>
            <p:cNvSpPr txBox="1"/>
            <p:nvPr/>
          </p:nvSpPr>
          <p:spPr>
            <a:xfrm>
              <a:off x="2780391" y="15242725"/>
              <a:ext cx="4286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en-US" altLang="ko-KR" dirty="0">
                  <a:solidFill>
                    <a:schemeClr val="accent1">
                      <a:lumMod val="75000"/>
                    </a:schemeClr>
                  </a:solidFill>
                </a:rPr>
                <a:t>이동경로·머문시간·관계성 분석</a:t>
              </a: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</a:p>
          </p:txBody>
        </p:sp>
        <p:pic>
          <p:nvPicPr>
            <p:cNvPr id="245" name="그림 244">
              <a:extLst>
                <a:ext uri="{FF2B5EF4-FFF2-40B4-BE49-F238E27FC236}">
                  <a16:creationId xmlns:a16="http://schemas.microsoft.com/office/drawing/2014/main" id="{A64A04B9-2CA8-4F49-9E1F-8D64387BB5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377932"/>
              <a:ext cx="191250" cy="191250"/>
            </a:xfrm>
            <a:prstGeom prst="rect">
              <a:avLst/>
            </a:prstGeom>
          </p:spPr>
        </p:pic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DB363757-E718-4FF0-AAC1-A84337075E94}"/>
              </a:ext>
            </a:extLst>
          </p:cNvPr>
          <p:cNvGrpSpPr/>
          <p:nvPr/>
        </p:nvGrpSpPr>
        <p:grpSpPr>
          <a:xfrm>
            <a:off x="8231949" y="16300979"/>
            <a:ext cx="4533900" cy="461665"/>
            <a:chOff x="2532741" y="15242726"/>
            <a:chExt cx="4533900" cy="461665"/>
          </a:xfrm>
        </p:grpSpPr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C081B1D-A524-46A6-84F5-3273E688E05A}"/>
                </a:ext>
              </a:extLst>
            </p:cNvPr>
            <p:cNvSpPr txBox="1"/>
            <p:nvPr/>
          </p:nvSpPr>
          <p:spPr>
            <a:xfrm>
              <a:off x="2780391" y="15242726"/>
              <a:ext cx="4286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>누적 데이터 기반 재생성</a:t>
              </a:r>
              <a:r>
                <a:rPr lang="en-US" altLang="ko-KR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</a:p>
          </p:txBody>
        </p:sp>
        <p:pic>
          <p:nvPicPr>
            <p:cNvPr id="248" name="그림 247">
              <a:extLst>
                <a:ext uri="{FF2B5EF4-FFF2-40B4-BE49-F238E27FC236}">
                  <a16:creationId xmlns:a16="http://schemas.microsoft.com/office/drawing/2014/main" id="{FED7EFBC-4AF6-444F-A9D3-EB2A19CE26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377932"/>
              <a:ext cx="191250" cy="191250"/>
            </a:xfrm>
            <a:prstGeom prst="rect">
              <a:avLst/>
            </a:prstGeom>
          </p:spPr>
        </p:pic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71DBF2E8-4792-4865-9982-B0685ED4091D}"/>
              </a:ext>
            </a:extLst>
          </p:cNvPr>
          <p:cNvGrpSpPr/>
          <p:nvPr/>
        </p:nvGrpSpPr>
        <p:grpSpPr>
          <a:xfrm>
            <a:off x="14205934" y="15448965"/>
            <a:ext cx="5025040" cy="461665"/>
            <a:chOff x="2532741" y="15242726"/>
            <a:chExt cx="5025040" cy="461665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EF9BF3B5-F745-41C5-90DB-DF7080643ACD}"/>
                </a:ext>
              </a:extLst>
            </p:cNvPr>
            <p:cNvSpPr txBox="1"/>
            <p:nvPr/>
          </p:nvSpPr>
          <p:spPr>
            <a:xfrm>
              <a:off x="2780390" y="15242726"/>
              <a:ext cx="47773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>포즈 → 인물 윤곽 추상화</a:t>
              </a:r>
              <a:r>
                <a:rPr lang="en-US" altLang="ko-KR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</a:p>
          </p:txBody>
        </p:sp>
        <p:pic>
          <p:nvPicPr>
            <p:cNvPr id="251" name="그림 250">
              <a:extLst>
                <a:ext uri="{FF2B5EF4-FFF2-40B4-BE49-F238E27FC236}">
                  <a16:creationId xmlns:a16="http://schemas.microsoft.com/office/drawing/2014/main" id="{4B0BCB74-C7F4-4917-8C9A-BB09A51CAC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377932"/>
              <a:ext cx="191250" cy="191250"/>
            </a:xfrm>
            <a:prstGeom prst="rect">
              <a:avLst/>
            </a:prstGeom>
          </p:spPr>
        </p:pic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1BF9DA70-81A5-4D1E-9F87-1AE7A3696E2E}"/>
              </a:ext>
            </a:extLst>
          </p:cNvPr>
          <p:cNvGrpSpPr/>
          <p:nvPr/>
        </p:nvGrpSpPr>
        <p:grpSpPr>
          <a:xfrm>
            <a:off x="14205935" y="15874138"/>
            <a:ext cx="5310790" cy="461665"/>
            <a:chOff x="2532741" y="15242726"/>
            <a:chExt cx="5310790" cy="461665"/>
          </a:xfrm>
        </p:grpSpPr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EECF368E-7A97-4551-A260-F9566A026B09}"/>
                </a:ext>
              </a:extLst>
            </p:cNvPr>
            <p:cNvSpPr txBox="1"/>
            <p:nvPr/>
          </p:nvSpPr>
          <p:spPr>
            <a:xfrm>
              <a:off x="2780391" y="15242726"/>
              <a:ext cx="50631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>다인원 관계 → 은하 구조 형성</a:t>
              </a:r>
              <a:r>
                <a:rPr lang="en-US" altLang="ko-KR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/>
              </a:r>
            </a:p>
          </p:txBody>
        </p:sp>
        <p:pic>
          <p:nvPicPr>
            <p:cNvPr id="254" name="그림 253">
              <a:extLst>
                <a:ext uri="{FF2B5EF4-FFF2-40B4-BE49-F238E27FC236}">
                  <a16:creationId xmlns:a16="http://schemas.microsoft.com/office/drawing/2014/main" id="{7109BB33-0794-4BF6-A660-C501960E63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377932"/>
              <a:ext cx="191250" cy="191250"/>
            </a:xfrm>
            <a:prstGeom prst="rect">
              <a:avLst/>
            </a:prstGeom>
          </p:spPr>
        </p:pic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648E88C3-434E-4BFA-8159-CC19B19E6E90}"/>
              </a:ext>
            </a:extLst>
          </p:cNvPr>
          <p:cNvGrpSpPr/>
          <p:nvPr/>
        </p:nvGrpSpPr>
        <p:grpSpPr>
          <a:xfrm>
            <a:off x="14205935" y="16314006"/>
            <a:ext cx="5310790" cy="461665"/>
            <a:chOff x="2532741" y="15242724"/>
            <a:chExt cx="5310790" cy="461665"/>
          </a:xfrm>
        </p:grpSpPr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AF5BE14-A6D3-4DE7-AB2F-0049DD1D0A7C}"/>
                </a:ext>
              </a:extLst>
            </p:cNvPr>
            <p:cNvSpPr txBox="1"/>
            <p:nvPr/>
          </p:nvSpPr>
          <p:spPr>
            <a:xfrm>
              <a:off x="2780389" y="15242724"/>
              <a:ext cx="506314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/>
                  <a:ea typeface="나눔고딕"/>
                </a:defRPr>
              </a:lvl1pPr>
            </a:lstStyle>
            <a:p>
              <a:pPr lvl="0">
                <a:defRPr/>
              </a:pPr>
              <a:r>
                <a:rPr lang="ko-KR" altLang="en-US" dirty="0">
                  <a:solidFill>
                    <a:schemeClr val="accent1">
                      <a:lumMod val="75000"/>
                    </a:schemeClr>
                  </a:solidFill>
                </a:rPr>
                <a:t>전시 종료 시 별자리 아카이브 완성</a:t>
              </a:r>
            </a:p>
          </p:txBody>
        </p:sp>
        <p:pic>
          <p:nvPicPr>
            <p:cNvPr id="257" name="그림 256">
              <a:extLst>
                <a:ext uri="{FF2B5EF4-FFF2-40B4-BE49-F238E27FC236}">
                  <a16:creationId xmlns:a16="http://schemas.microsoft.com/office/drawing/2014/main" id="{50DA2499-E9C8-437D-97C1-E6600E72FE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532741" y="15377932"/>
              <a:ext cx="191250" cy="191250"/>
            </a:xfrm>
            <a:prstGeom prst="rect">
              <a:avLst/>
            </a:prstGeom>
          </p:spPr>
        </p:pic>
      </p:grp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907AD042-E12B-41B9-BF9A-96608121BC07}"/>
              </a:ext>
            </a:extLst>
          </p:cNvPr>
          <p:cNvGrpSpPr/>
          <p:nvPr/>
        </p:nvGrpSpPr>
        <p:grpSpPr>
          <a:xfrm>
            <a:off x="15453771" y="20798064"/>
            <a:ext cx="3492421" cy="523220"/>
            <a:chOff x="10872639" y="21598164"/>
            <a:chExt cx="3492421" cy="523220"/>
          </a:xfrm>
        </p:grpSpPr>
        <p:pic>
          <p:nvPicPr>
            <p:cNvPr id="259" name="그림 258">
              <a:extLst>
                <a:ext uri="{FF2B5EF4-FFF2-40B4-BE49-F238E27FC236}">
                  <a16:creationId xmlns:a16="http://schemas.microsoft.com/office/drawing/2014/main" id="{1452C00E-B1EF-4B9F-8018-D881DA8ED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72639" y="21651649"/>
              <a:ext cx="135000" cy="416250"/>
            </a:xfrm>
            <a:prstGeom prst="rect">
              <a:avLst/>
            </a:prstGeom>
          </p:spPr>
        </p:pic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E23C9D11-D64D-4096-AC8B-B58D16F5C8B2}"/>
                </a:ext>
              </a:extLst>
            </p:cNvPr>
            <p:cNvSpPr txBox="1"/>
            <p:nvPr/>
          </p:nvSpPr>
          <p:spPr>
            <a:xfrm>
              <a:off x="11039021" y="21598164"/>
              <a:ext cx="3326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2400">
                  <a:solidFill>
                    <a:schemeClr val="accent1">
                      <a:lumMod val="50000"/>
                    </a:schemeClr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accent1">
                      <a:lumMod val="75000"/>
                    </a:schemeClr>
                  </a:solidFill>
                </a:rPr>
                <a:t>관계성 시각화</a:t>
              </a:r>
            </a:p>
          </p:txBody>
        </p:sp>
      </p:grp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D9117E69-31E6-43C6-9630-E83DC2BA12FE}"/>
              </a:ext>
            </a:extLst>
          </p:cNvPr>
          <p:cNvGrpSpPr/>
          <p:nvPr/>
        </p:nvGrpSpPr>
        <p:grpSpPr>
          <a:xfrm>
            <a:off x="2091487" y="26394112"/>
            <a:ext cx="16733925" cy="436461"/>
            <a:chOff x="2258925" y="5972174"/>
            <a:chExt cx="16733925" cy="436461"/>
          </a:xfrm>
        </p:grpSpPr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FDBC18C8-8DC8-4037-9959-8428B14EFCAD}"/>
                </a:ext>
              </a:extLst>
            </p:cNvPr>
            <p:cNvSpPr txBox="1"/>
            <p:nvPr/>
          </p:nvSpPr>
          <p:spPr>
            <a:xfrm>
              <a:off x="2590800" y="5972174"/>
              <a:ext cx="16402050" cy="436461"/>
            </a:xfrm>
            <a:prstGeom prst="rect">
              <a:avLst/>
            </a:prstGeom>
            <a:noFill/>
          </p:spPr>
          <p:txBody>
            <a:bodyPr wrap="square" tIns="18000" bIns="18000">
              <a:spAutoFit/>
            </a:bodyPr>
            <a:lstStyle/>
            <a:p>
              <a:pPr lvl="0">
                <a:defRPr/>
              </a:pP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>관람객 참여형 전시 구현</a:t>
              </a:r>
            </a:p>
          </p:txBody>
        </p:sp>
        <p:pic>
          <p:nvPicPr>
            <p:cNvPr id="263" name="그림 262">
              <a:extLst>
                <a:ext uri="{FF2B5EF4-FFF2-40B4-BE49-F238E27FC236}">
                  <a16:creationId xmlns:a16="http://schemas.microsoft.com/office/drawing/2014/main" id="{B604EF28-491D-4A31-93B6-088A4A50B1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258925" y="6084882"/>
              <a:ext cx="236250" cy="236250"/>
            </a:xfrm>
            <a:prstGeom prst="rect">
              <a:avLst/>
            </a:prstGeom>
          </p:spPr>
        </p:pic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0923D63C-1E77-4973-8913-07FCE63C0CD7}"/>
              </a:ext>
            </a:extLst>
          </p:cNvPr>
          <p:cNvGrpSpPr/>
          <p:nvPr/>
        </p:nvGrpSpPr>
        <p:grpSpPr>
          <a:xfrm>
            <a:off x="2091487" y="26980636"/>
            <a:ext cx="17440205" cy="436461"/>
            <a:chOff x="2258925" y="5972174"/>
            <a:chExt cx="16733925" cy="436461"/>
          </a:xfrm>
        </p:grpSpPr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62C9913C-DB2B-4473-9B7A-DB88A3F32880}"/>
                </a:ext>
              </a:extLst>
            </p:cNvPr>
            <p:cNvSpPr txBox="1"/>
            <p:nvPr/>
          </p:nvSpPr>
          <p:spPr>
            <a:xfrm>
              <a:off x="2590800" y="5972174"/>
              <a:ext cx="16402050" cy="436461"/>
            </a:xfrm>
            <a:prstGeom prst="rect">
              <a:avLst/>
            </a:prstGeom>
            <a:noFill/>
          </p:spPr>
          <p:txBody>
            <a:bodyPr wrap="square" tIns="18000" bIns="18000">
              <a:spAutoFit/>
            </a:bodyPr>
            <a:lstStyle/>
            <a:p>
              <a:pPr lvl="0">
                <a:defRPr/>
              </a:pP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>기술과 감성을 연결하는 디지털 콘텐츠 제작</a:t>
              </a:r>
              <a:r>
                <a:rPr lang="en-US" altLang="ko-KR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en-US" altLang="ko-KR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  <a:r>
                <a:rPr lang="ko-KR" altLang="en-US" sz="2600" dirty="0">
                  <a:solidFill>
                    <a:schemeClr val="accent1">
                      <a:lumMod val="75000"/>
                    </a:schemeClr>
                  </a:solidFill>
                  <a:latin typeface="나눔고딕"/>
                  <a:ea typeface="나눔고딕"/>
                </a:rPr>
                <a:t/>
              </a:r>
            </a:p>
          </p:txBody>
        </p:sp>
        <p:pic>
          <p:nvPicPr>
            <p:cNvPr id="266" name="그림 265">
              <a:extLst>
                <a:ext uri="{FF2B5EF4-FFF2-40B4-BE49-F238E27FC236}">
                  <a16:creationId xmlns:a16="http://schemas.microsoft.com/office/drawing/2014/main" id="{DED2A564-5DB5-4E29-8A8F-B64F9B8F92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258925" y="6084882"/>
              <a:ext cx="236250" cy="236250"/>
            </a:xfrm>
            <a:prstGeom prst="rect">
              <a:avLst/>
            </a:prstGeom>
          </p:spPr>
        </p:pic>
      </p:grpSp>
      <p:graphicFrame>
        <p:nvGraphicFramePr>
          <p:cNvPr id="267" name="표 266">
            <a:extLst>
              <a:ext uri="{FF2B5EF4-FFF2-40B4-BE49-F238E27FC236}">
                <a16:creationId xmlns:a16="http://schemas.microsoft.com/office/drawing/2014/main" id="{EAB60D2E-3C0B-4DA8-BDC9-7C73A2FEE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895630"/>
              </p:ext>
            </p:extLst>
          </p:nvPr>
        </p:nvGraphicFramePr>
        <p:xfrm>
          <a:off x="10931750" y="10357190"/>
          <a:ext cx="8599942" cy="261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7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83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solidFill>
                            <a:schemeClr val="bg1"/>
                          </a:solidFill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lang="ko-KR" altLang="en-US" sz="2400">
                        <a:solidFill>
                          <a:schemeClr val="bg1"/>
                        </a:solidFill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18000" marR="1800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>
                          <a:solidFill>
                            <a:schemeClr val="bg1"/>
                          </a:solidFill>
                          <a:latin typeface="나눔고딕"/>
                          <a:ea typeface="나눔고딕"/>
                          <a:cs typeface="+mn-cs"/>
                        </a:rPr>
                        <a:t>연계 교과목</a:t>
                      </a:r>
                    </a:p>
                  </a:txBody>
                  <a:tcPr marL="18000" marR="18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>
                          <a:solidFill>
                            <a:schemeClr val="bg1"/>
                          </a:solidFill>
                          <a:latin typeface="나눔고딕"/>
                          <a:ea typeface="나눔고딕"/>
                          <a:cs typeface="+mn-cs"/>
                        </a:rPr>
                        <a:t>강의교수</a:t>
                      </a:r>
                    </a:p>
                  </a:txBody>
                  <a:tcPr marL="18000" marR="18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 dirty="0">
                          <a:solidFill>
                            <a:schemeClr val="bg1"/>
                          </a:solidFill>
                          <a:latin typeface="나눔고딕"/>
                          <a:ea typeface="나눔고딕"/>
                          <a:cs typeface="+mn-cs"/>
                        </a:rPr>
                        <a:t>학기</a:t>
                      </a:r>
                    </a:p>
                  </a:txBody>
                  <a:tcPr marL="18000" marR="18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>
                          <a:solidFill>
                            <a:schemeClr val="bg1"/>
                          </a:solidFill>
                          <a:latin typeface="나눔고딕"/>
                          <a:ea typeface="나눔고딕"/>
                          <a:cs typeface="+mn-cs"/>
                        </a:rPr>
                        <a:t>과목 특성</a:t>
                      </a:r>
                    </a:p>
                  </a:txBody>
                  <a:tcPr marL="18000" marR="18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3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endParaRPr lang="ko-KR" altLang="en-US" sz="240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18000" marR="1800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  <a:endParaRPr lang="ko-KR" altLang="en-US" sz="240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  <a:r>
                        <a:rPr lang="en-US" altLang="ko-KR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/>
                      </a: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/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01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  <a:endParaRPr lang="ko-KR" altLang="en-US" sz="240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18000" marR="1800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/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  <a:endParaRPr lang="ko-KR" altLang="en-US" sz="24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138324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/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3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3</a:t>
                      </a:r>
                      <a:endParaRPr lang="ko-KR" altLang="en-US" sz="2400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18000" marR="1800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kumimoji="0" lang="ko-KR" altLang="en-US" sz="2400" b="0" i="0" u="none" strike="noStrike" kern="1200" cap="none" spc="0" normalizeH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  <a:endParaRPr kumimoji="0" lang="en-US" altLang="ko-KR" sz="2400" b="0" i="0" u="none" strike="noStrike" kern="1200" cap="none" spc="0" normalizeH="0" baseline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장진수</a:t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  <a:endParaRPr lang="ko-KR" altLang="en-US" sz="24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>미정</a:t>
                      </a:r>
                      <a:r>
                        <a:rPr lang="ko-KR" altLang="en-US" sz="24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나눔고딕"/>
                          <a:ea typeface="나눔고딕"/>
                          <a:cs typeface="+mn-cs"/>
                        </a:rPr>
                        <a:t/>
                      </a:r>
                    </a:p>
                  </a:txBody>
                  <a:tcPr marL="18000" marR="18000" anchor="ctr">
                    <a:lnL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8" name="TextBox 267">
            <a:extLst>
              <a:ext uri="{FF2B5EF4-FFF2-40B4-BE49-F238E27FC236}">
                <a16:creationId xmlns:a16="http://schemas.microsoft.com/office/drawing/2014/main" id="{139DA467-66BC-4A84-BDC0-989CD6984CC4}"/>
              </a:ext>
            </a:extLst>
          </p:cNvPr>
          <p:cNvSpPr txBox="1"/>
          <p:nvPr/>
        </p:nvSpPr>
        <p:spPr>
          <a:xfrm>
            <a:off x="6070717" y="4110536"/>
            <a:ext cx="4576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solidFill>
                  <a:srgbClr val="002060"/>
                </a:solidFill>
                <a:latin typeface="나눔고딕"/>
                <a:ea typeface="나눔고딕"/>
              </a:rPr>
              <a:t>박형석, 김민혁, 추현우</a:t>
            </a:r>
            <a:r>
              <a:rPr lang="en-US" altLang="ko-KR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  <a:r>
              <a:rPr lang="ko-KR" altLang="en-US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  <a:r>
              <a:rPr lang="en-US" altLang="ko-KR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  <a:r>
              <a:rPr lang="ko-KR" altLang="en-US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  <a:r>
              <a:rPr lang="en-US" altLang="ko-KR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  <a:r>
              <a:rPr lang="ko-KR" altLang="en-US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E8967C84-3E6C-45D5-93DE-241B38F6549F}"/>
              </a:ext>
            </a:extLst>
          </p:cNvPr>
          <p:cNvSpPr txBox="1"/>
          <p:nvPr/>
        </p:nvSpPr>
        <p:spPr>
          <a:xfrm>
            <a:off x="2729958" y="4125170"/>
            <a:ext cx="146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solidFill>
                  <a:srgbClr val="002060"/>
                </a:solidFill>
                <a:latin typeface="나눔고딕"/>
                <a:ea typeface="나눔고딕"/>
              </a:rPr>
              <a:t>별그사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F3712A32-D580-4CC1-9DEC-FBA7CBCF0BC7}"/>
              </a:ext>
            </a:extLst>
          </p:cNvPr>
          <p:cNvSpPr txBox="1"/>
          <p:nvPr/>
        </p:nvSpPr>
        <p:spPr>
          <a:xfrm>
            <a:off x="7997707" y="4634082"/>
            <a:ext cx="54462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solidFill>
                  <a:srgbClr val="002060"/>
                </a:solidFill>
                <a:latin typeface="나눔고딕"/>
                <a:ea typeface="나눔고딕"/>
              </a:rPr>
              <a:t>권숙연, 김환희</a:t>
            </a:r>
            <a:r>
              <a:rPr lang="en-US" altLang="ko-KR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  <a:r>
              <a:rPr lang="ko-KR" altLang="en-US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  <a:r>
              <a:rPr lang="en-US" altLang="ko-KR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  <a:r>
              <a:rPr lang="ko-KR" altLang="en-US" sz="2000" dirty="0">
                <a:solidFill>
                  <a:srgbClr val="002060"/>
                </a:solidFill>
                <a:latin typeface="나눔고딕"/>
                <a:ea typeface="나눔고딕"/>
              </a:rPr>
              <a:t/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EA994C9-9424-4B85-91F6-1C22A216DDC2}"/>
              </a:ext>
            </a:extLst>
          </p:cNvPr>
          <p:cNvSpPr txBox="1"/>
          <p:nvPr/>
        </p:nvSpPr>
        <p:spPr>
          <a:xfrm>
            <a:off x="3460456" y="4644336"/>
            <a:ext cx="3131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rgbClr val="002060"/>
                </a:solidFill>
                <a:latin typeface="나눔고딕"/>
                <a:ea typeface="나눔고딕"/>
              </a:rPr>
              <a:t>-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BD7B2814-0EDA-44EB-8C91-5064B0A6CBB7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361" y="16782354"/>
            <a:ext cx="3766092" cy="2119552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3609E67A-F2B5-4D1B-A74C-3D6ACBD34E0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723" y="16770662"/>
            <a:ext cx="3877541" cy="2182276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B577DDEF-97FE-4735-B3B1-749EAE48A2E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793" y="16770662"/>
            <a:ext cx="3766092" cy="212446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AC68D3E-7F3E-4EEC-8EC6-91026470B35C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049957" y="21321283"/>
            <a:ext cx="5018501" cy="31352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88F414-1130-4DDE-8D12-64085426255D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163303" y="21339984"/>
            <a:ext cx="4128811" cy="31106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885B0F-E35C-4508-874D-D0DB829E394B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335798" y="21291836"/>
            <a:ext cx="4117973" cy="31718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1FEFBA1-8B38-4457-84A0-665D683B1153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521271" y="21339983"/>
            <a:ext cx="3995454" cy="31237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737884-B30A-48A0-B0CF-6B36AC66C87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7117" y="25807588"/>
            <a:ext cx="2563857" cy="192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2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228</Words>
  <Application>Microsoft Office PowerPoint</Application>
  <PresentationFormat>사용자 지정</PresentationFormat>
  <Paragraphs>47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나눔고딕 ExtraBold</vt:lpstr>
      <vt:lpstr>Arial</vt:lpstr>
      <vt:lpstr>Calibri</vt:lpstr>
      <vt:lpstr>Calibri Light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Wildbasser</dc:creator>
  <cp:lastModifiedBy>User</cp:lastModifiedBy>
  <cp:revision>74</cp:revision>
  <dcterms:created xsi:type="dcterms:W3CDTF">2020-06-25T05:18:53Z</dcterms:created>
  <dcterms:modified xsi:type="dcterms:W3CDTF">2026-07-22T02:42:03Z</dcterms:modified>
  <cp:version/>
</cp:coreProperties>
</file>